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Executivo OSG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cruzada com sócios e equipe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das 11 respostas dos formulários (2 sócios, 6 seniores, 3 assistentes), análise de convergências, dores silenciosas e proposta de roadmap para os próximos 4 meses.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Patrícia Melo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· Transformação Digital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Para: Fernando Machado e Luciano Cuba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75120" y="13716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vozes ouvidas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3063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4 dias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7091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 de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· 8 BLOCOS · 45 MINUTOS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da reunião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diagnóstico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09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respostas, 4 dias, 2 decisões já tomadas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41732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13441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Convergências unânimes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60934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dores que todos os níveis confirmaram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9456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silenciosas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equipe sente e os sócios ainda não viam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205740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19456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 versus equipe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23865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as percepções divergem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283464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297180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versus TO-BE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hoje e como vai funcionar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283464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297180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estratégicas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31638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do Fiscal e Google Workspace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65760" y="361188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374904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6012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 quick wins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 e Wave 2 com gordura até agosto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663440" y="3611880"/>
            <a:ext cx="4114800" cy="6400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3749040"/>
            <a:ext cx="365760" cy="365760"/>
          </a:xfrm>
          <a:prstGeom prst="ellipse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3675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de validação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57800" y="39410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de aval para destravar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· STATUS DO DIAGNÓSTICO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estamos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4630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572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12801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 respondidos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(27/04) e Fernando (29/04)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27832" y="1188720"/>
            <a:ext cx="2697480" cy="14630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27832" y="1188720"/>
            <a:ext cx="4572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0712" y="1280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6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2392" y="128016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10712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Seniores respondidos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0712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Thiago, Jakeline, Anne, Luana, Mônica, Karlene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089904" y="1188720"/>
            <a:ext cx="2697480" cy="14630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89904" y="1188720"/>
            <a:ext cx="45720" cy="14630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2784" y="128016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6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4464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72784" y="2148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Assistentes respondidos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272784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Maritsa, Arielly e Daniela (Assistente C)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65760" y="28803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decisões estratégicas já tomadas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65760" y="324612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486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01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548640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do Fiscal como base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4864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já construída no Fiscal vira base da gestão de projetos da OSG. Não construímos do zero, configuramos e estendemos com pedidos do Cuba (7 indicadores) e do Fernando (interface cliente). Reduz esforço estimado da Wave 2 em 50 a 60 por cento.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4663440" y="324612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8463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02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4846320" y="35844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como padrão único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846320" y="39319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da OSG já está toda dentro do Google Workspace. Resolve a fragmentação de canais que os 2 sócios e parte da equipe apontaram (Slack vs Teams vs Chat vs Email). Substrato comum para Lovable e IAs já contratadas.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01 · DIMENSIONAMENTO DA ÁREA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 da OSG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937760" cy="352044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atual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pessoas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dividas em 3 níveis hierárquicos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71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Sócios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4028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e Cuba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52044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Seniores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4028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Coordenam projetos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64592" cy="164592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Assistentes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40280" y="3977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 A, B e C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0" y="1188720"/>
            <a:ext cx="1554480" cy="164592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1188720"/>
            <a:ext cx="45720" cy="164592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5544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1.440h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77840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mensal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78040" y="1188720"/>
            <a:ext cx="1554480" cy="164592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78040" y="1188720"/>
            <a:ext cx="45720" cy="1645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69480" y="15544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40-55%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69480" y="214884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trabalho manual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971800"/>
            <a:ext cx="1554480" cy="164592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0" y="2971800"/>
            <a:ext cx="45720" cy="1645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280-450h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3931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recuperação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78040" y="2971800"/>
            <a:ext cx="1554480" cy="164592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78040" y="2971800"/>
            <a:ext cx="45720" cy="16459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9480" y="333756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R$86k-201k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69480" y="3931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anualizado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02 · CONVERGÊNCIAS UNÂNIMES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dores confirmadas pelos 3 níveis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todos os níveis apontam o mesmo problema, ele não precisa de mais validação. Vai direto pro roadmap.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150876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627632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é o gargalo central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Cuba, Fernando, Thiago, Luana, Karlene, Daniela e Arielly confirmaram. Sete vozes em sete.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463040"/>
            <a:ext cx="2697480" cy="150876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627632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Matrículas: parte mais trabalhosa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3756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Anne, Luana, Karlene, Daniela e Arielly destacaram. A automação do DP precisa atacar essa etapa.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035040" y="1463040"/>
            <a:ext cx="2697480" cy="150876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7220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627632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722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com problemas de padrão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172200" y="24231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Cuba: troca de caracteres. Fernando: camadas de revisão. Erros previsíveis: numeração, capital social, formatação.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365760" y="3063240"/>
            <a:ext cx="2697480" cy="150876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0292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3227832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292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Necessidade de plataforma única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Cuba, Fernando, Jakeline e Mônica pedem. Decisão Google Workspace + Lovable do Fiscal atende.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0" y="3063240"/>
            <a:ext cx="2697480" cy="150876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3337560" y="31546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227832"/>
            <a:ext cx="246888" cy="2468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37560" y="3703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dos projetos baixa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37560" y="40233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1 de 5, Fernando 2 de 5. Cada um da equipe usa um sistema diferente, ninguém tem visão completa.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035040" y="3063240"/>
            <a:ext cx="2697480" cy="1508760"/>
          </a:xfrm>
          <a:prstGeom prst="rect">
            <a:avLst/>
          </a:prstGeom>
          <a:solidFill>
            <a:srgbClr val="152340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6172200" y="3200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172200" y="3520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dores acima entram no roadmap sem mais validação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03 · O QUE OS SÓCIOS NÃO VIAM AINDA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dores silenciosas que a equipe sente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Aqui mora o achado mais valioso do diagnóstico. Quando o operacional sofre e o estratégico não enxerga, é onde a automação tem maior impacto.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1005840"/>
          </a:xfrm>
          <a:prstGeom prst="rect">
            <a:avLst/>
          </a:prstGeom>
          <a:solidFill>
            <a:srgbClr val="111A2E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819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real dos assistentes está saturada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Sócios: no limite ou equilibrado · Daniela: quase toda semana sente que vai perder prazo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188720" y="19842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 (Assistente C) elabora DP de ponta a ponta e faz instrumentos agrários 30-40% do tempo. Maritsa carrega 40% em revisão e exigências. Seniores: "não enxergam que é serviço técnico complexo" (Thiago), "não estão atentos às transformações digitais" (Mônica).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514600"/>
            <a:ext cx="8412480" cy="1005840"/>
          </a:xfrm>
          <a:prstGeom prst="rect">
            <a:avLst/>
          </a:prstGeom>
          <a:solidFill>
            <a:srgbClr val="111A2E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51460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1188720" y="26060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ressuscitada: cálculos automatizáveis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2 sócios não citaram cálculos · Anne (senior) pediu ITCD e instrumentos sucessórios explicitamente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188720" y="308152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(10+ anos): "automatizaria Cálculo de ITCD e respectivos Instrumentos sucessórios". Mônica também citou cálculos. Era para a F03 sair do roadmap, voltou pela voz da equipe. Dor silenciosa clássica.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111A2E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611880"/>
            <a:ext cx="54864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77647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 nova: integração de horas e timesheet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498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idêntico de 5 pessoas · Thiago, Jakeline, Luana, Maritsa, Daniela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188720" y="417880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pessoas pediram a mesma coisa: integração automática entre OpenProject e o sistema de horas. Daniela: "hoje não consigo manter o prazo do lançamento". Pedido número 1 do operacional. Baixo esforço, alto impacto.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· ONDE AS PERCEPÇÕES DIVERGEM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 versus Equipe: divergências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50292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DOS SÓCIOS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114800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097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REALIDADE DA EQUIPE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916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4F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110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Cuba: "no limite". Fernando: "equilibrado".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892808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91109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Daniela: "quase toda semana sente que vai perder prazo". Maritsa carrega 40% em revisão.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4048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4F8C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243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1/5. Fernando 2/5. Cuba quer 7 indicadores granulares. Fernando quer "evolução qualitativa".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62432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 por planilha (Thiago), Slack+OpenProject (Jakeline), agenda (Luana), Legal One (Karlene). Cada um do seu jeito.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5760" y="3118104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19272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4F8C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337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Cuba: sucessão interna + automação. Fernando: faturamento + atendimento ao cliente.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3319272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337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pede automação operacional, lançamento de horas, eliminação de retrabalho de revisão.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83133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MINUTAS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032504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4F8C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507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Fernando: 4/5.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4032504"/>
            <a:ext cx="4114800" cy="457200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40507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Thiago, Anne, Mônica: 5/5. Luana, Karlene: 3/5. A própria equipe não concorda.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Implicação: o roadmap precisa servir aos dois eixos. Liberar tempo no operacional (pedido da equipe) e dar visibilidade executiva (pedido dos sócios). Não são opostos, são camadas.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04 · DIAGNÓSTICO CONSOLIDADO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das 9 hipóteses de 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2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389888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Patrimonial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· 7/7 vozes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200400" y="1188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8328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2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38988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societárias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38328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· sócios + seniores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035040" y="1188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1325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2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1389888"/>
            <a:ext cx="182880" cy="1828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fragmentada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17920" y="1947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· 2 sócios + 4 seniores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365760" y="2331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4864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22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480" y="2532888"/>
            <a:ext cx="182880" cy="1828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documental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4864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· 2 sócios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200400" y="2331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38328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H5</a:t>
            </a:r>
            <a:endParaRPr lang="en-US" sz="22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53288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8328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de prazos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38328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MÁXIMO · Cuba 1/5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035040" y="2331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21792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</a:t>
            </a:r>
            <a:endParaRPr lang="en-US" sz="22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2532888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sem ferramenta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217920" y="3090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RESSUSCITADA · Anne pediu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65760" y="3474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H7</a:t>
            </a:r>
            <a:endParaRPr lang="en-US" sz="220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7480" y="3675888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864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conhecimento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548640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· trazida por Cuba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200400" y="3474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38328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H8</a:t>
            </a:r>
            <a:endParaRPr lang="en-US" sz="22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32120" y="3675888"/>
            <a:ext cx="182880" cy="18288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38328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com cliente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383280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· trazida por Fernando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035040" y="3474720"/>
            <a:ext cx="2697480" cy="1005840"/>
          </a:xfrm>
          <a:prstGeom prst="rect">
            <a:avLst/>
          </a:prstGeom>
          <a:solidFill>
            <a:srgbClr val="111A2E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45" name="Text 35"/>
          <p:cNvSpPr/>
          <p:nvPr/>
        </p:nvSpPr>
        <p:spPr>
          <a:xfrm>
            <a:off x="6217920" y="3611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</a:t>
            </a:r>
            <a:endParaRPr lang="en-US" sz="2200" dirty="0"/>
          </a:p>
        </p:txBody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6760" y="3675888"/>
            <a:ext cx="182880" cy="18288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6217920" y="3977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horas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217920" y="423367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URGENTE · 5 pessoas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365760" y="461772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39"/>
          <p:cNvSpPr/>
          <p:nvPr/>
        </p:nvSpPr>
        <p:spPr>
          <a:xfrm>
            <a:off x="566928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</a:t>
            </a:r>
            <a:endParaRPr lang="en-US" sz="1000" dirty="0"/>
          </a:p>
        </p:txBody>
      </p:sp>
      <p:sp>
        <p:nvSpPr>
          <p:cNvPr id="51" name="Shape 40"/>
          <p:cNvSpPr/>
          <p:nvPr/>
        </p:nvSpPr>
        <p:spPr>
          <a:xfrm>
            <a:off x="3108960" y="4617720"/>
            <a:ext cx="137160" cy="1371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3310128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Crítica · alerta máximo</a:t>
            </a:r>
            <a:endParaRPr lang="en-US" sz="1000" dirty="0"/>
          </a:p>
        </p:txBody>
      </p:sp>
      <p:sp>
        <p:nvSpPr>
          <p:cNvPr id="53" name="Shape 42"/>
          <p:cNvSpPr/>
          <p:nvPr/>
        </p:nvSpPr>
        <p:spPr>
          <a:xfrm>
            <a:off x="5852160" y="4617720"/>
            <a:ext cx="137160" cy="1371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4" name="Text 43"/>
          <p:cNvSpPr/>
          <p:nvPr/>
        </p:nvSpPr>
        <p:spPr>
          <a:xfrm>
            <a:off x="6053328" y="4572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000" dirty="0"/>
          </a:p>
        </p:txBody>
      </p:sp>
      <p:sp>
        <p:nvSpPr>
          <p:cNvPr id="55" name="Text 44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56" name="Text 45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05 · COMO FUNCIONA HOJE E COMO VAI FUNCIONAR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versus TO-BE: 3 blocos prioritários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Patrimonial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(AS-IS)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20299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manual de matrículas, ITR, CCIR, escrituras. Digitação repetitiva. 30 a 50% do tempo inicial.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2768" y="3035808"/>
            <a:ext cx="274320" cy="27432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65760" y="338328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COM AUTOMAÇÃO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02920" y="37216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inteligente com extração automática. Validação cruzada (matrícula × CCIR × ITR). Assistente foca em risco.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" y="43708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40-60h/mês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Minutas societárias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200400" y="169164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3756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(AS-IS)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37560" y="20299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projeto anterior. Erros de numeração, capital social, formatação. Múltiplas idas e voltas.</a:t>
            </a:r>
            <a:endParaRPr lang="en-US" sz="10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3035808"/>
            <a:ext cx="274320" cy="274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3200400" y="338328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33756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COM AUTOMAÇÃO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337560" y="37216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central versionada. Preenchimento assistido via DP + WP Sócios. Validação formal embutida.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337560" y="43708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20-30h/mês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horas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6035040" y="169164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172200" y="1783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(AS-IS)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172200" y="2029968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lança horas em planilha separada. Daniela: "hoje não consigo manter o prazo". Distorce medição.</a:t>
            </a:r>
            <a:endParaRPr lang="en-US" sz="10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48" y="3035808"/>
            <a:ext cx="274320" cy="274320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6035040" y="3383280"/>
            <a:ext cx="2697480" cy="1280160"/>
          </a:xfrm>
          <a:prstGeom prst="rect">
            <a:avLst/>
          </a:prstGeom>
          <a:solidFill>
            <a:srgbClr val="111A2E"/>
          </a:solidFill>
          <a:ln w="5080">
            <a:solidFill>
              <a:srgbClr val="22C55E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172200" y="34747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EE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COM AUTOMAÇÃO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172200" y="3721608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OpenProject ↔ Timesheet. Horas extraídas dos projetos automaticamente.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172200" y="437083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Ganho: 5-10h/mês por pessoa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06 · DECISÕES ESTRATÉGICAS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2 decisões que mudam o esforço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520440"/>
          </a:xfrm>
          <a:prstGeom prst="rect">
            <a:avLst/>
          </a:prstGeom>
          <a:solidFill>
            <a:srgbClr val="111A2E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do Fiscal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base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plataforma já construída no Fiscal vira a base da gestão de projetos da OSG. Não construímos do zero, configuramos e estendemos.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Adições para a OSG: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30168"/>
            <a:ext cx="109728" cy="1097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13232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indicadores do Cuba (cronograma, custos, horas, prazos)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922776"/>
            <a:ext cx="109728" cy="1097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cliente do Fernando (envio docs, status)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15384"/>
            <a:ext cx="109728" cy="1097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3232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views: executiva e operacional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188720"/>
            <a:ext cx="4114800" cy="3520440"/>
          </a:xfrm>
          <a:prstGeom prst="rect">
            <a:avLst/>
          </a:prstGeom>
          <a:solidFill>
            <a:srgbClr val="111A2E"/>
          </a:solidFill>
          <a:ln w="10160">
            <a:solidFill>
              <a:srgbClr val="4F8CFF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846320" y="137160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02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84632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padrão único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846320" y="26060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equipe da OSG já está dentro do Google Workspace. Resolve a fragmentação de canais que sócios e equipe apontaram.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846320" y="333756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Substrato comum para: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3630168"/>
            <a:ext cx="109728" cy="1097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10912" y="3584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Drive, Docs, Sheets, Chat e Meet integrados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922776"/>
            <a:ext cx="109728" cy="10972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10912" y="38770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se conecta nativamente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215384"/>
            <a:ext cx="109728" cy="10972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10912" y="4169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IAs já contratadas (Gemini, NotebookLM, Claude)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27" name="Text 19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07 · QUICK WINS · JUNHO E JULHO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1: 4 ferramentas de impacto direto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em liberar tempo da equipe. Todas as 4 ferramentas atacam dores confirmadas pelos 3 níveis ou dores silenciosas.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 Inteligente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inteligente com extração automática de dados de matrículas, ITR, CCIR, DIRPF. Validação cruzada.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40-60h/mês · Sprint 3-4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463040"/>
            <a:ext cx="54864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002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8470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 de Minutas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2240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versionados de Contrato Social, Alterações e Atas com preenchimento assistido a partir do DP e WP.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20-30h/mês · Sprint 3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54864" cy="14630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ITCD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4864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pediu explicitamente. Padronização por UF, separação de legítima e disponível, rastreabilidade.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270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8-12h/mês · Sprint 4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3063240"/>
            <a:ext cx="4114800" cy="1463040"/>
          </a:xfrm>
          <a:prstGeom prst="rect">
            <a:avLst/>
          </a:prstGeom>
          <a:solidFill>
            <a:srgbClr val="111A2E"/>
          </a:solidFill>
          <a:ln w="8890">
            <a:solidFill>
              <a:srgbClr val="EF44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3063240"/>
            <a:ext cx="54864" cy="14630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34472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Horas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38404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5 pessoas. OpenProject ↔ Timesheet. Lançamento automático a partir dos projetos.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2702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5-10h/pessoa · Sprint 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07 · MÊS 3 · JULHO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2: visibilidade e integração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 a OSG da operação cega. Wave 2 entrega o que os sócios pediram diretamente: visibilidade, comunicação centralizada e interface com cliente.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2788920"/>
          </a:xfrm>
          <a:prstGeom prst="rect">
            <a:avLst/>
          </a:prstGeom>
          <a:solidFill>
            <a:srgbClr val="111A2E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2697480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Gestão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 do Fiscal como base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e extensão. 7 indicadores do Cuba mais módulo cliente do Fernando. Duas views (executiva e operacional). Esforço reduzido em ~50% por reaproveitar.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97480" cy="2788920"/>
          </a:xfrm>
          <a:prstGeom prst="rect">
            <a:avLst/>
          </a:prstGeom>
          <a:solidFill>
            <a:srgbClr val="111A2E"/>
          </a:solidFill>
          <a:ln w="8890">
            <a:solidFill>
              <a:srgbClr val="4F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463040"/>
            <a:ext cx="2697480" cy="54864"/>
          </a:xfrm>
          <a:prstGeom prst="rect">
            <a:avLst/>
          </a:prstGeom>
          <a:solidFill>
            <a:srgbClr val="4F8CFF"/>
          </a:solidFill>
          <a:ln w="12700">
            <a:solidFill>
              <a:srgbClr val="4F8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F06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Google Workspace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83280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F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decisão tomada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da fragmentação Slack-Teams-Chat-Email. Pasta única por cliente, gatilho automático de chegada de documento, integração nativa com Lovable e IAs.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463040"/>
            <a:ext cx="2697480" cy="2788920"/>
          </a:xfrm>
          <a:prstGeom prst="rect">
            <a:avLst/>
          </a:prstGeom>
          <a:solidFill>
            <a:srgbClr val="111A2E"/>
          </a:solidFill>
          <a:ln w="8890">
            <a:solidFill>
              <a:srgbClr val="22D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1463040"/>
            <a:ext cx="269748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6459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F07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Tributário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217920" y="2606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clientes rurais (foco do Fernando)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0" y="29260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estruturado para comparação de regimes (LR, LP, Rural) com rastreabilidade dos inputs e validação automática de consistência.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4370832"/>
            <a:ext cx="8412480" cy="347472"/>
          </a:xfrm>
          <a:prstGeom prst="rect">
            <a:avLst/>
          </a:prstGeom>
          <a:solidFill>
            <a:srgbClr val="152340"/>
          </a:solidFill>
          <a:ln w="5080">
            <a:solidFill>
              <a:srgbClr val="22D3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3708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da Wave 2: visibilidade do 1/5 atual para algo entre 4/5 e 5/5. Cliente entra no fluxo da OSG.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07 · CRONOGRAMA · MAIO A AGOSTO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visual: 3 meses + 1 mês de gordura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2468880"/>
            <a:ext cx="8412480" cy="36576"/>
          </a:xfrm>
          <a:prstGeom prst="rect">
            <a:avLst/>
          </a:prstGeom>
          <a:solidFill>
            <a:srgbClr val="1F2F54"/>
          </a:solidFill>
          <a:ln w="12700">
            <a:solidFill>
              <a:srgbClr val="1F2F5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2377440"/>
            <a:ext cx="228600" cy="22860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1965960" cy="15544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788920"/>
            <a:ext cx="45720" cy="15544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90779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das 11 respostas (✓), entrevistas 1:1 onde necessário, mapeamento AS-IS dos 3 processos-chave, apresentação executiva.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83280" y="2377440"/>
            <a:ext cx="228600" cy="228600"/>
          </a:xfrm>
          <a:prstGeom prst="ellipse">
            <a:avLst/>
          </a:prstGeom>
          <a:solidFill>
            <a:srgbClr val="22C55E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JUN-JUL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514600" y="2788920"/>
            <a:ext cx="1965960" cy="15544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2788920"/>
            <a:ext cx="45720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290779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F01 DP Inteligente, F02 Biblioteca de Minutas, F03 Calculadora ITCD, F04 Integração de Horas. Sprints 3 e 4.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0" y="2377440"/>
            <a:ext cx="228600" cy="228600"/>
          </a:xfrm>
          <a:prstGeom prst="ellipse">
            <a:avLst/>
          </a:prstGeom>
          <a:solidFill>
            <a:srgbClr val="D4AF37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JULHO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2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617720" y="2788920"/>
            <a:ext cx="1965960" cy="15544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788920"/>
            <a:ext cx="45720" cy="15544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90779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F05 Plataforma Lovable em produção, F06 Hub Google Workspace, F07 Diagnóstico Tributário. Sprints 5 e 6.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589520" y="2377440"/>
            <a:ext cx="228600" cy="228600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18288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1031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720840" y="2788920"/>
            <a:ext cx="1965960" cy="1554480"/>
          </a:xfrm>
          <a:prstGeom prst="rect">
            <a:avLst/>
          </a:prstGeom>
          <a:solidFill>
            <a:srgbClr val="111A2E"/>
          </a:solidFill>
          <a:ln w="6350">
            <a:solidFill>
              <a:srgbClr val="1F2F5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20840" y="2788920"/>
            <a:ext cx="4572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39712" y="2907792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de gordura para ajustes finos, treinamento da equipe nas IAs (Gemini, NotebookLM, Claude), documentação consolidada e handover.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meses de execução real (maio a julho) com 1 mês de gordura (agosto) para ajustes finos e handover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 formal do projeto: final de agosto de 2026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08 · PEDIDOS AOS SÓCIOS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validar com vocês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pontos de decisão para destravar o roadmap. 3 trazem achados que vocês ainda não viam. 5 são definições de escopo.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real dos assistentes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 disseram "limite/equilibrado". Daniela perde prazo "quase toda semana". Alinhar a leitura.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417320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813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846320" y="16642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H6 ressuscitada (cálculos)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 pediu Calculadora ITCD. Manter a F03 na Wave 1?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21992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21992"/>
            <a:ext cx="54864" cy="7498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286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4864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H9 nova (lançamento de horas)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pessoas pediram. Aprovar entrada na Wave 1 como F04?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21992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221992"/>
            <a:ext cx="54864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286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46320" y="24688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Sucessão interna (H7)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791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colocou como prioridade número 1. Fernando alinha?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026664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026664"/>
            <a:ext cx="54864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906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" y="3273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módulo cliente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3483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envio de documentos, status, ou também resposta a solicitações?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026664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026664"/>
            <a:ext cx="54864" cy="74980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309067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32735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Norte na Wave 2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48386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Cuba citou. Entra agora na centralização ou fica para depois?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831336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22D3E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831336"/>
            <a:ext cx="54864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3895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8640" y="4078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de revisão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288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citou como dor. Vale análise estrutural antes de só automatizar?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831336"/>
            <a:ext cx="4114800" cy="749808"/>
          </a:xfrm>
          <a:prstGeom prst="rect">
            <a:avLst/>
          </a:prstGeom>
          <a:solidFill>
            <a:srgbClr val="111A2E"/>
          </a:solidFill>
          <a:ln w="5080">
            <a:solidFill>
              <a:srgbClr val="22D3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663440" y="3831336"/>
            <a:ext cx="54864" cy="74980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0" y="38953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40782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das IAs já contratadas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846320" y="428853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Gemini, NotebookLM, Claude. Plano de treinamento entra em agosto?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1B35"/>
          </a:solidFill>
          <a:ln w="12700">
            <a:solidFill>
              <a:srgbClr val="0F1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36576" cy="51435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5669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a partir desta reunião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2587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do roadmap proposto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280720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Sinal verde para Wave 1 começar em junho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309067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dos pedidos pendentes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101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pontos do slide anterior fechados nesta reunião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6118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51560" y="35935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AS-IS dos 3 processos-chave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81304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DP, WP Sócios, Atas com a equipe em maio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1148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51560" y="4096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da Lovable iniciada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4315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técnica começa preparação da plataforma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Obrigada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400800" y="2103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 confiança no projeto.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3108960"/>
            <a:ext cx="2468880" cy="1371600"/>
          </a:xfrm>
          <a:prstGeom prst="rect">
            <a:avLst/>
          </a:prstGeom>
          <a:solidFill>
            <a:srgbClr val="111A2E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3246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Patrícia Melo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3520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Transformação Digital PSA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92240" y="4069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bi@psaconsultores.com.br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006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PSA · Transformação Digital · Diagnóstico Executivo OSG · Abril de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D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Diagnóstico Executivo OSG</dc:title>
  <dc:subject>PptxGenJS Presentation</dc:subject>
  <dc:creator>Patrícia Melo</dc:creator>
  <cp:lastModifiedBy>Patrícia Melo</cp:lastModifiedBy>
  <cp:revision>1</cp:revision>
  <dcterms:created xsi:type="dcterms:W3CDTF">2026-04-29T17:27:58Z</dcterms:created>
  <dcterms:modified xsi:type="dcterms:W3CDTF">2026-04-29T17:27:58Z</dcterms:modified>
</cp:coreProperties>
</file>